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glow blue"/>
          <p:cNvSpPr/>
          <p:nvPr/>
        </p:nvSpPr>
        <p:spPr>
          <a:xfrm>
            <a:off x="7772400" y="-640080"/>
            <a:ext cx="4389120" cy="4389120"/>
          </a:xfrm>
          <a:prstGeom prst="ellipse">
            <a:avLst/>
          </a:prstGeom>
          <a:solidFill>
            <a:srgbClr val="1D4ED8">
              <a:alpha val="18000"/>
            </a:srgbClr>
          </a:solidFill>
          <a:ln>
            <a:noFill/>
          </a:ln>
        </p:spPr>
      </p:sp>
      <p:sp>
        <p:nvSpPr>
          <p:cNvPr id="4" name="glow cyan"/>
          <p:cNvSpPr/>
          <p:nvPr/>
        </p:nvSpPr>
        <p:spPr>
          <a:xfrm>
            <a:off x="-914400" y="4297680"/>
            <a:ext cx="2926080" cy="2926080"/>
          </a:xfrm>
          <a:prstGeom prst="ellipse">
            <a:avLst/>
          </a:prstGeom>
          <a:solidFill>
            <a:srgbClr val="0891B2">
              <a:alpha val="15000"/>
            </a:srgbClr>
          </a:solidFill>
          <a:ln>
            <a:noFill/>
          </a:ln>
        </p:spPr>
      </p:sp>
      <p:sp>
        <p:nvSpPr>
          <p:cNvPr id="5" name="title"/>
          <p:cNvSpPr/>
          <p:nvPr/>
        </p:nvSpPr>
        <p:spPr>
          <a:xfrm>
            <a:off x="320040" y="137160"/>
            <a:ext cx="11567160" cy="56692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2550" b="1">
                <a:solidFill>
                  <a:srgbClr val="F8FAFC"/>
                </a:solidFill>
                <a:latin typeface="Microsoft YaHei"/>
                <a:ea typeface="Microsoft YaHei"/>
              </a:rPr>
              <a:t>《拯救“数字巨兽”：从“盲目重构”走向“精准手术”》</a:t>
            </a:r>
            <a:endParaRPr lang="zh-CN" sz="2550">
              <a:latin typeface="Microsoft YaHei"/>
              <a:ea typeface="Microsoft YaHei"/>
            </a:endParaRPr>
          </a:p>
        </p:txBody>
      </p:sp>
      <p:sp>
        <p:nvSpPr>
          <p:cNvPr id="6" name="subtitle"/>
          <p:cNvSpPr/>
          <p:nvPr/>
        </p:nvSpPr>
        <p:spPr>
          <a:xfrm>
            <a:off x="2148840" y="713232"/>
            <a:ext cx="7955279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050">
                <a:solidFill>
                  <a:srgbClr val="A7F3D0"/>
                </a:solidFill>
                <a:latin typeface="Microsoft YaHei"/>
                <a:ea typeface="Microsoft YaHei"/>
              </a:rPr>
              <a:t>HCS老系统智能化重构：把硬核参数转化为可验证、可沟通、可落地的价值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7" name="left panel"/>
          <p:cNvSpPr/>
          <p:nvPr/>
        </p:nvSpPr>
        <p:spPr>
          <a:xfrm>
            <a:off x="320040" y="1078992"/>
            <a:ext cx="2788920" cy="4315968"/>
          </a:xfrm>
          <a:prstGeom prst="roundRect">
            <a:avLst/>
          </a:prstGeom>
          <a:solidFill>
            <a:srgbClr val="111827">
              <a:alpha val="86000"/>
            </a:srgbClr>
          </a:solidFill>
          <a:ln w="12700">
            <a:solidFill>
              <a:srgbClr val="38BDF8">
                <a:alpha val="52000"/>
              </a:srgbClr>
            </a:solidFill>
          </a:ln>
        </p:spPr>
      </p:sp>
      <p:sp>
        <p:nvSpPr>
          <p:cNvPr id="8" name="middle panel"/>
          <p:cNvSpPr/>
          <p:nvPr/>
        </p:nvSpPr>
        <p:spPr>
          <a:xfrm>
            <a:off x="3273552" y="1078992"/>
            <a:ext cx="2697480" cy="4315968"/>
          </a:xfrm>
          <a:prstGeom prst="roundRect">
            <a:avLst/>
          </a:prstGeom>
          <a:solidFill>
            <a:srgbClr val="171717">
              <a:alpha val="87000"/>
            </a:srgbClr>
          </a:solidFill>
          <a:ln w="12700">
            <a:solidFill>
              <a:srgbClr val="F97316">
                <a:alpha val="54000"/>
              </a:srgbClr>
            </a:solidFill>
          </a:ln>
        </p:spPr>
      </p:sp>
      <p:sp>
        <p:nvSpPr>
          <p:cNvPr id="9" name="right panel"/>
          <p:cNvSpPr/>
          <p:nvPr/>
        </p:nvSpPr>
        <p:spPr>
          <a:xfrm>
            <a:off x="6126480" y="1078992"/>
            <a:ext cx="5733288" cy="4315968"/>
          </a:xfrm>
          <a:prstGeom prst="roundRect">
            <a:avLst/>
          </a:prstGeom>
          <a:solidFill>
            <a:srgbClr val="082F49">
              <a:alpha val="85000"/>
            </a:srgbClr>
          </a:solidFill>
          <a:ln w="12700">
            <a:solidFill>
              <a:srgbClr val="22C55E">
                <a:alpha val="56000"/>
              </a:srgbClr>
            </a:solidFill>
          </a:ln>
        </p:spPr>
      </p:sp>
      <p:sp>
        <p:nvSpPr>
          <p:cNvPr id="10" name="left heading"/>
          <p:cNvSpPr/>
          <p:nvPr/>
        </p:nvSpPr>
        <p:spPr>
          <a:xfrm>
            <a:off x="502920" y="1234440"/>
            <a:ext cx="2423160" cy="347472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320" b="1">
                <a:solidFill>
                  <a:srgbClr val="BAE6FD"/>
                </a:solidFill>
                <a:latin typeface="Microsoft YaHei"/>
                <a:ea typeface="Microsoft YaHei"/>
              </a:rPr>
              <a:t>现状：千亿保费的“数字巨兽”</a:t>
            </a:r>
            <a:endParaRPr lang="zh-CN" sz="1320">
              <a:latin typeface="Microsoft YaHei"/>
              <a:ea typeface="Microsoft YaHei"/>
            </a:endParaRPr>
          </a:p>
        </p:txBody>
      </p:sp>
      <p:sp>
        <p:nvSpPr>
          <p:cNvPr id="11" name="beast"/>
          <p:cNvSpPr/>
          <p:nvPr/>
        </p:nvSpPr>
        <p:spPr>
          <a:xfrm>
            <a:off x="685800" y="1755648"/>
            <a:ext cx="2057400" cy="685800"/>
          </a:xfrm>
          <a:prstGeom prst="hexagon">
            <a:avLst/>
          </a:prstGeom>
          <a:solidFill>
            <a:srgbClr val="0EA5E9">
              <a:alpha val="22000"/>
            </a:srgbClr>
          </a:solidFill>
          <a:ln w="12700">
            <a:solidFill>
              <a:srgbClr val="38BDF8">
                <a:alpha val="52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3000" b="1">
                <a:solidFill>
                  <a:srgbClr val="E0F2FE"/>
                </a:solidFill>
                <a:latin typeface="Microsoft YaHei"/>
                <a:ea typeface="Microsoft YaHei"/>
              </a:rPr>
              <a:t>HCS</a:t>
            </a:r>
            <a:endParaRPr lang="zh-CN" sz="3000">
              <a:latin typeface="Microsoft YaHei"/>
              <a:ea typeface="Microsoft YaHei"/>
            </a:endParaRPr>
          </a:p>
        </p:txBody>
      </p:sp>
      <p:sp>
        <p:nvSpPr>
          <p:cNvPr id="12" name="700万行代码"/>
          <p:cNvSpPr/>
          <p:nvPr/>
        </p:nvSpPr>
        <p:spPr>
          <a:xfrm>
            <a:off x="566928" y="2615184"/>
            <a:ext cx="2286000" cy="47548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8BDF8">
                <a:alpha val="68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700万行代码</a:t>
            </a:r>
            <a:endParaRPr lang="zh-CN" sz="980">
              <a:latin typeface="Microsoft YaHei"/>
              <a:ea typeface="Microsoft YaHei"/>
            </a:endParaRPr>
          </a:p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打印出来≈铺满足球场</a:t>
            </a:r>
            <a:endParaRPr lang="zh-CN" sz="980">
              <a:latin typeface="Microsoft YaHei"/>
              <a:ea typeface="Microsoft YaHei"/>
            </a:endParaRPr>
          </a:p>
        </p:txBody>
      </p:sp>
      <p:sp>
        <p:nvSpPr>
          <p:cNvPr id="13" name="2000张数据表"/>
          <p:cNvSpPr/>
          <p:nvPr/>
        </p:nvSpPr>
        <p:spPr>
          <a:xfrm>
            <a:off x="566928" y="3310128"/>
            <a:ext cx="2286000" cy="47548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A78BFA">
                <a:alpha val="68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2000张数据表</a:t>
            </a:r>
            <a:endParaRPr lang="zh-CN" sz="980">
              <a:latin typeface="Microsoft YaHei"/>
              <a:ea typeface="Microsoft YaHei"/>
            </a:endParaRPr>
          </a:p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业务关系像迷宫</a:t>
            </a:r>
            <a:endParaRPr lang="zh-CN" sz="980">
              <a:latin typeface="Microsoft YaHei"/>
              <a:ea typeface="Microsoft YaHei"/>
            </a:endParaRPr>
          </a:p>
        </p:txBody>
      </p:sp>
      <p:sp>
        <p:nvSpPr>
          <p:cNvPr id="14" name="1/3财险总保费"/>
          <p:cNvSpPr/>
          <p:nvPr/>
        </p:nvSpPr>
        <p:spPr>
          <a:xfrm>
            <a:off x="566928" y="4005072"/>
            <a:ext cx="2286000" cy="47548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FBBF24">
                <a:alpha val="68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1/3财险总保费</a:t>
            </a:r>
            <a:endParaRPr lang="zh-CN" sz="980">
              <a:latin typeface="Microsoft YaHei"/>
              <a:ea typeface="Microsoft YaHei"/>
            </a:endParaRPr>
          </a:p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停摆一秒，损失以万计</a:t>
            </a:r>
            <a:endParaRPr lang="zh-CN" sz="980">
              <a:latin typeface="Microsoft YaHei"/>
              <a:ea typeface="Microsoft YaHei"/>
            </a:endParaRPr>
          </a:p>
        </p:txBody>
      </p:sp>
      <p:sp>
        <p:nvSpPr>
          <p:cNvPr id="15" name="200+核心产品"/>
          <p:cNvSpPr/>
          <p:nvPr/>
        </p:nvSpPr>
        <p:spPr>
          <a:xfrm>
            <a:off x="566928" y="4700016"/>
            <a:ext cx="2286000" cy="475488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4D399">
                <a:alpha val="68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200+核心产品</a:t>
            </a:r>
            <a:endParaRPr lang="zh-CN" sz="980">
              <a:latin typeface="Microsoft YaHei"/>
              <a:ea typeface="Microsoft YaHei"/>
            </a:endParaRPr>
          </a:p>
          <a:p>
            <a:pPr algn="ctr"/>
            <a:r>
              <a:rPr lang="zh-CN" sz="980" b="1">
                <a:solidFill>
                  <a:srgbClr val="F8FAFC"/>
                </a:solidFill>
                <a:latin typeface="Microsoft YaHei"/>
                <a:ea typeface="Microsoft YaHei"/>
              </a:rPr>
              <a:t>十几年逻辑“老树盘根”</a:t>
            </a:r>
            <a:endParaRPr lang="zh-CN" sz="980">
              <a:latin typeface="Microsoft YaHei"/>
              <a:ea typeface="Microsoft YaHei"/>
            </a:endParaRPr>
          </a:p>
        </p:txBody>
      </p:sp>
      <p:sp>
        <p:nvSpPr>
          <p:cNvPr id="16" name="middle heading"/>
          <p:cNvSpPr/>
          <p:nvPr/>
        </p:nvSpPr>
        <p:spPr>
          <a:xfrm>
            <a:off x="3456432" y="1234440"/>
            <a:ext cx="2331720" cy="329184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320" b="1">
                <a:solidFill>
                  <a:srgbClr val="FED7AA"/>
                </a:solidFill>
                <a:latin typeface="Microsoft YaHei"/>
                <a:ea typeface="Microsoft YaHei"/>
              </a:rPr>
              <a:t>困境：重构路上的“两难”</a:t>
            </a:r>
            <a:endParaRPr lang="zh-CN" sz="1320">
              <a:latin typeface="Microsoft YaHei"/>
              <a:ea typeface="Microsoft YaHei"/>
            </a:endParaRPr>
          </a:p>
        </p:txBody>
      </p:sp>
      <p:sp>
        <p:nvSpPr>
          <p:cNvPr id="17" name="manual card"/>
          <p:cNvSpPr/>
          <p:nvPr/>
        </p:nvSpPr>
        <p:spPr>
          <a:xfrm>
            <a:off x="3520440" y="1755648"/>
            <a:ext cx="2057400" cy="1170432"/>
          </a:xfrm>
          <a:prstGeom prst="roundRect">
            <a:avLst/>
          </a:prstGeom>
          <a:solidFill>
            <a:srgbClr val="292524"/>
          </a:solidFill>
          <a:ln w="12700">
            <a:solidFill>
              <a:srgbClr val="FB923C">
                <a:alpha val="65000"/>
              </a:srgbClr>
            </a:solidFill>
          </a:ln>
        </p:spPr>
        <p:txBody>
          <a:bodyPr wrap="square" anchor="mid">
            <a:spAutoFit/>
          </a:bodyPr>
          <a:lstStyle/>
          <a:p>
            <a:pPr algn="l" marL="0" indent="0"/>
            <a:r>
              <a:rPr lang="zh-CN" sz="870" b="1">
                <a:solidFill>
                  <a:srgbClr val="FFF7ED"/>
                </a:solidFill>
                <a:latin typeface="Microsoft YaHei"/>
                <a:ea typeface="Microsoft YaHei"/>
              </a:rPr>
              <a:t>人工摸排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FFF7ED"/>
                </a:solidFill>
                <a:latin typeface="Microsoft YaHei"/>
                <a:ea typeface="Microsoft YaHei"/>
              </a:rPr>
              <a:t>像在大海里捞针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FFF7ED"/>
                </a:solidFill>
                <a:latin typeface="Microsoft YaHei"/>
                <a:ea typeface="Microsoft YaHei"/>
              </a:rPr>
              <a:t>慢：查一个链路要两周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FFF7ED"/>
                </a:solidFill>
                <a:latin typeface="Microsoft YaHei"/>
                <a:ea typeface="Microsoft YaHei"/>
              </a:rPr>
              <a:t>乱：靠经验拍脑袋，风险不可控</a:t>
            </a:r>
            <a:endParaRPr lang="zh-CN" sz="870">
              <a:latin typeface="Microsoft YaHei"/>
              <a:ea typeface="Microsoft YaHei"/>
            </a:endParaRPr>
          </a:p>
        </p:txBody>
      </p:sp>
      <p:sp>
        <p:nvSpPr>
          <p:cNvPr id="18" name="vs circle"/>
          <p:cNvSpPr/>
          <p:nvPr/>
        </p:nvSpPr>
        <p:spPr>
          <a:xfrm>
            <a:off x="4224528" y="3017520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ED7A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VS</a:t>
            </a:r>
            <a:endParaRPr lang="zh-CN" sz="1500">
              <a:latin typeface="Microsoft YaHei"/>
              <a:ea typeface="Microsoft YaHei"/>
            </a:endParaRPr>
          </a:p>
        </p:txBody>
      </p:sp>
      <p:sp>
        <p:nvSpPr>
          <p:cNvPr id="19" name="ai card"/>
          <p:cNvSpPr/>
          <p:nvPr/>
        </p:nvSpPr>
        <p:spPr>
          <a:xfrm>
            <a:off x="3520440" y="3803904"/>
            <a:ext cx="2057400" cy="1170432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818CF8">
                <a:alpha val="65000"/>
              </a:srgbClr>
            </a:solidFill>
          </a:ln>
        </p:spPr>
        <p:txBody>
          <a:bodyPr wrap="square" anchor="mid">
            <a:spAutoFit/>
          </a:bodyPr>
          <a:lstStyle/>
          <a:p>
            <a:pPr algn="l" marL="0" indent="0"/>
            <a:r>
              <a:rPr lang="zh-CN" sz="870" b="1">
                <a:solidFill>
                  <a:srgbClr val="EEF2FF"/>
                </a:solidFill>
                <a:latin typeface="Microsoft YaHei"/>
                <a:ea typeface="Microsoft YaHei"/>
              </a:rPr>
              <a:t>普通 AI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EEF2FF"/>
                </a:solidFill>
                <a:latin typeface="Microsoft YaHei"/>
                <a:ea typeface="Microsoft YaHei"/>
              </a:rPr>
              <a:t>像“瞎子带路”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EEF2FF"/>
                </a:solidFill>
                <a:latin typeface="Microsoft YaHei"/>
                <a:ea typeface="Microsoft YaHei"/>
              </a:rPr>
              <a:t>记性差：前后文断片</a:t>
            </a:r>
            <a:endParaRPr lang="zh-CN" sz="870">
              <a:latin typeface="Microsoft YaHei"/>
              <a:ea typeface="Microsoft YaHei"/>
            </a:endParaRPr>
          </a:p>
          <a:p>
            <a:pPr algn="l" marL="0" indent="0"/>
            <a:r>
              <a:rPr lang="zh-CN" sz="870" b="1">
                <a:solidFill>
                  <a:srgbClr val="EEF2FF"/>
                </a:solidFill>
                <a:latin typeface="Microsoft YaHei"/>
                <a:ea typeface="Microsoft YaHei"/>
              </a:rPr>
              <a:t>爱撒谎：幻觉与不确定</a:t>
            </a:r>
            <a:endParaRPr lang="zh-CN" sz="870">
              <a:latin typeface="Microsoft YaHei"/>
              <a:ea typeface="Microsoft YaHei"/>
            </a:endParaRPr>
          </a:p>
        </p:txBody>
      </p:sp>
      <p:cxnSp>
        <p:nvCxnSpPr>
          <p:cNvPr id="20" name="arrow left mid"/>
          <p:cNvCxnSpPr/>
          <p:nvPr/>
        </p:nvCxnSpPr>
        <p:spPr>
          <a:xfrm>
            <a:off x="3090672" y="3218688"/>
            <a:ext cx="182880" cy="0"/>
          </a:xfrm>
          <a:prstGeom prst="straightConnector1">
            <a:avLst/>
          </a:prstGeom>
          <a:ln w="38100">
            <a:solidFill>
              <a:srgbClr val="F97316">
                <a:alpha val="85000"/>
              </a:srgbClr>
            </a:solidFill>
            <a:tailEnd type="triangle"/>
          </a:ln>
        </p:spPr>
      </p:cxnSp>
      <p:cxnSp>
        <p:nvCxnSpPr>
          <p:cNvPr id="21" name="arrow mid right"/>
          <p:cNvCxnSpPr/>
          <p:nvPr/>
        </p:nvCxnSpPr>
        <p:spPr>
          <a:xfrm>
            <a:off x="5971032" y="3218688"/>
            <a:ext cx="155448" cy="0"/>
          </a:xfrm>
          <a:prstGeom prst="straightConnector1">
            <a:avLst/>
          </a:prstGeom>
          <a:ln w="38100">
            <a:solidFill>
              <a:srgbClr val="22C55E">
                <a:alpha val="85000"/>
              </a:srgbClr>
            </a:solidFill>
            <a:tailEnd type="triangle"/>
          </a:ln>
        </p:spPr>
      </p:cxnSp>
      <p:sp>
        <p:nvSpPr>
          <p:cNvPr id="22" name="right heading"/>
          <p:cNvSpPr/>
          <p:nvPr/>
        </p:nvSpPr>
        <p:spPr>
          <a:xfrm>
            <a:off x="6355080" y="1234440"/>
            <a:ext cx="5166360" cy="329184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320" b="1">
                <a:solidFill>
                  <a:srgbClr val="BBF7D0"/>
                </a:solidFill>
                <a:latin typeface="Microsoft YaHei"/>
                <a:ea typeface="Microsoft YaHei"/>
              </a:rPr>
              <a:t>破局：打造“确定性”的智能工具链</a:t>
            </a:r>
            <a:endParaRPr lang="zh-CN" sz="1320">
              <a:latin typeface="Microsoft YaHei"/>
              <a:ea typeface="Microsoft YaHei"/>
            </a:endParaRPr>
          </a:p>
        </p:txBody>
      </p:sp>
      <p:sp>
        <p:nvSpPr>
          <p:cNvPr id="23" name="core quote"/>
          <p:cNvSpPr/>
          <p:nvPr/>
        </p:nvSpPr>
        <p:spPr>
          <a:xfrm>
            <a:off x="6446520" y="1664208"/>
            <a:ext cx="4983480" cy="5029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34D399">
                <a:alpha val="60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050" b="1">
                <a:solidFill>
                  <a:srgbClr val="DCFCE7"/>
                </a:solidFill>
                <a:latin typeface="Microsoft YaHei"/>
                <a:ea typeface="Microsoft YaHei"/>
              </a:rPr>
              <a:t>核心思路：不让 AI “盲目猜”，而是让 AI “照着地图说”。</a:t>
            </a:r>
            <a:endParaRPr lang="zh-CN" sz="1050">
              <a:latin typeface="Microsoft YaHei"/>
              <a:ea typeface="Microsoft YaHei"/>
            </a:endParaRPr>
          </a:p>
        </p:txBody>
      </p:sp>
      <p:sp>
        <p:nvSpPr>
          <p:cNvPr id="24" name="代码 GPS card"/>
          <p:cNvSpPr/>
          <p:nvPr/>
        </p:nvSpPr>
        <p:spPr>
          <a:xfrm>
            <a:off x="6428232" y="2395728"/>
            <a:ext cx="1600200" cy="2331720"/>
          </a:xfrm>
          <a:prstGeom prst="roundRect">
            <a:avLst/>
          </a:prstGeom>
          <a:solidFill>
            <a:srgbClr val="0F172A">
              <a:alpha val="92000"/>
            </a:srgbClr>
          </a:solidFill>
          <a:ln w="12700">
            <a:solidFill>
              <a:srgbClr val="38BDF8">
                <a:alpha val="76000"/>
              </a:srgbClr>
            </a:solidFill>
          </a:ln>
        </p:spPr>
      </p:sp>
      <p:sp>
        <p:nvSpPr>
          <p:cNvPr id="25" name="代码 GPS icon"/>
          <p:cNvSpPr/>
          <p:nvPr/>
        </p:nvSpPr>
        <p:spPr>
          <a:xfrm>
            <a:off x="6903720" y="2560320"/>
            <a:ext cx="640080" cy="43891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50" b="1">
                <a:solidFill>
                  <a:srgbClr val="0B1220"/>
                </a:solidFill>
                <a:latin typeface="Microsoft YaHei"/>
                <a:ea typeface="Microsoft YaHei"/>
              </a:rPr>
              <a:t>GPS</a:t>
            </a:r>
            <a:endParaRPr lang="zh-CN" sz="1150">
              <a:latin typeface="Microsoft YaHei"/>
              <a:ea typeface="Microsoft YaHei"/>
            </a:endParaRPr>
          </a:p>
        </p:txBody>
      </p:sp>
      <p:sp>
        <p:nvSpPr>
          <p:cNvPr id="26" name="代码 GPS title"/>
          <p:cNvSpPr/>
          <p:nvPr/>
        </p:nvSpPr>
        <p:spPr>
          <a:xfrm>
            <a:off x="6519672" y="3099816"/>
            <a:ext cx="1417320" cy="38404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20" b="1">
                <a:solidFill>
                  <a:srgbClr val="38BDF8"/>
                </a:solidFill>
                <a:latin typeface="Microsoft YaHei"/>
                <a:ea typeface="Microsoft YaHei"/>
              </a:rPr>
              <a:t>代码 GPS</a:t>
            </a:r>
            <a:endParaRPr lang="zh-CN" sz="1120">
              <a:latin typeface="Microsoft YaHei"/>
              <a:ea typeface="Microsoft YaHei"/>
            </a:endParaRPr>
          </a:p>
        </p:txBody>
      </p:sp>
      <p:sp>
        <p:nvSpPr>
          <p:cNvPr id="27" name="代码 GPS sub"/>
          <p:cNvSpPr/>
          <p:nvPr/>
        </p:nvSpPr>
        <p:spPr>
          <a:xfrm>
            <a:off x="6519672" y="3456432"/>
            <a:ext cx="1417320" cy="310896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760" b="1">
                <a:solidFill>
                  <a:srgbClr val="E5E7EB"/>
                </a:solidFill>
                <a:latin typeface="Microsoft YaHei"/>
                <a:ea typeface="Microsoft YaHei"/>
              </a:rPr>
              <a:t>GraphRAG 确定性代码图谱</a:t>
            </a:r>
            <a:endParaRPr lang="zh-CN" sz="760">
              <a:latin typeface="Microsoft YaHei"/>
              <a:ea typeface="Microsoft YaHei"/>
            </a:endParaRPr>
          </a:p>
        </p:txBody>
      </p:sp>
      <p:sp>
        <p:nvSpPr>
          <p:cNvPr id="28" name="代码 GPS body"/>
          <p:cNvSpPr/>
          <p:nvPr/>
        </p:nvSpPr>
        <p:spPr>
          <a:xfrm>
            <a:off x="6547104" y="3813048"/>
            <a:ext cx="1353312" cy="74980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把 700 万行代码画成高精度导航地图</a:t>
            </a:r>
            <a:endParaRPr lang="zh-CN" sz="640">
              <a:latin typeface="Microsoft YaHei"/>
              <a:ea typeface="Microsoft YaHei"/>
            </a:endParaRPr>
          </a:p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每次逻辑跳转都有据可查，精准定位</a:t>
            </a:r>
            <a:endParaRPr lang="zh-CN" sz="640">
              <a:latin typeface="Microsoft YaHei"/>
              <a:ea typeface="Microsoft YaHei"/>
            </a:endParaRPr>
          </a:p>
        </p:txBody>
      </p:sp>
      <p:sp>
        <p:nvSpPr>
          <p:cNvPr id="29" name="业务翻译官 card"/>
          <p:cNvSpPr/>
          <p:nvPr/>
        </p:nvSpPr>
        <p:spPr>
          <a:xfrm>
            <a:off x="8211312" y="2395728"/>
            <a:ext cx="1600200" cy="2331720"/>
          </a:xfrm>
          <a:prstGeom prst="roundRect">
            <a:avLst/>
          </a:prstGeom>
          <a:solidFill>
            <a:srgbClr val="0F172A">
              <a:alpha val="92000"/>
            </a:srgbClr>
          </a:solidFill>
          <a:ln w="12700">
            <a:solidFill>
              <a:srgbClr val="A7F3D0">
                <a:alpha val="76000"/>
              </a:srgbClr>
            </a:solidFill>
          </a:ln>
        </p:spPr>
      </p:sp>
      <p:sp>
        <p:nvSpPr>
          <p:cNvPr id="30" name="业务翻译官 icon"/>
          <p:cNvSpPr/>
          <p:nvPr/>
        </p:nvSpPr>
        <p:spPr>
          <a:xfrm>
            <a:off x="8686800" y="2560320"/>
            <a:ext cx="640080" cy="438912"/>
          </a:xfrm>
          <a:prstGeom prst="roundRect">
            <a:avLst/>
          </a:prstGeom>
          <a:solidFill>
            <a:srgbClr val="A7F3D0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50" b="1">
                <a:solidFill>
                  <a:srgbClr val="0B1220"/>
                </a:solidFill>
                <a:latin typeface="Microsoft YaHei"/>
                <a:ea typeface="Microsoft YaHei"/>
              </a:rPr>
              <a:t>译</a:t>
            </a:r>
            <a:endParaRPr lang="zh-CN" sz="1150">
              <a:latin typeface="Microsoft YaHei"/>
              <a:ea typeface="Microsoft YaHei"/>
            </a:endParaRPr>
          </a:p>
        </p:txBody>
      </p:sp>
      <p:sp>
        <p:nvSpPr>
          <p:cNvPr id="31" name="业务翻译官 title"/>
          <p:cNvSpPr/>
          <p:nvPr/>
        </p:nvSpPr>
        <p:spPr>
          <a:xfrm>
            <a:off x="8302752" y="3099816"/>
            <a:ext cx="1417320" cy="38404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20" b="1">
                <a:solidFill>
                  <a:srgbClr val="A7F3D0"/>
                </a:solidFill>
                <a:latin typeface="Microsoft YaHei"/>
                <a:ea typeface="Microsoft YaHei"/>
              </a:rPr>
              <a:t>业务翻译官</a:t>
            </a:r>
            <a:endParaRPr lang="zh-CN" sz="1120">
              <a:latin typeface="Microsoft YaHei"/>
              <a:ea typeface="Microsoft YaHei"/>
            </a:endParaRPr>
          </a:p>
        </p:txBody>
      </p:sp>
      <p:sp>
        <p:nvSpPr>
          <p:cNvPr id="32" name="业务翻译官 sub"/>
          <p:cNvSpPr/>
          <p:nvPr/>
        </p:nvSpPr>
        <p:spPr>
          <a:xfrm>
            <a:off x="8302752" y="3456432"/>
            <a:ext cx="1417320" cy="310896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760" b="1">
                <a:solidFill>
                  <a:srgbClr val="E5E7EB"/>
                </a:solidFill>
                <a:latin typeface="Microsoft YaHei"/>
                <a:ea typeface="Microsoft YaHei"/>
              </a:rPr>
              <a:t>自动提炼业务知识库</a:t>
            </a:r>
            <a:endParaRPr lang="zh-CN" sz="760">
              <a:latin typeface="Microsoft YaHei"/>
              <a:ea typeface="Microsoft YaHei"/>
            </a:endParaRPr>
          </a:p>
        </p:txBody>
      </p:sp>
      <p:sp>
        <p:nvSpPr>
          <p:cNvPr id="33" name="业务翻译官 body"/>
          <p:cNvSpPr/>
          <p:nvPr/>
        </p:nvSpPr>
        <p:spPr>
          <a:xfrm>
            <a:off x="8330184" y="3813048"/>
            <a:ext cx="1353312" cy="74980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把难懂代码翻译成业务规则说明书</a:t>
            </a:r>
            <a:endParaRPr lang="zh-CN" sz="640">
              <a:latin typeface="Microsoft YaHei"/>
              <a:ea typeface="Microsoft YaHei"/>
            </a:endParaRPr>
          </a:p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消除语义断层，技业同频沟通</a:t>
            </a:r>
            <a:endParaRPr lang="zh-CN" sz="640">
              <a:latin typeface="Microsoft YaHei"/>
              <a:ea typeface="Microsoft YaHei"/>
            </a:endParaRPr>
          </a:p>
        </p:txBody>
      </p:sp>
      <p:sp>
        <p:nvSpPr>
          <p:cNvPr id="34" name="万能接口 card"/>
          <p:cNvSpPr/>
          <p:nvPr/>
        </p:nvSpPr>
        <p:spPr>
          <a:xfrm>
            <a:off x="9994392" y="2395728"/>
            <a:ext cx="1600200" cy="2331720"/>
          </a:xfrm>
          <a:prstGeom prst="roundRect">
            <a:avLst/>
          </a:prstGeom>
          <a:solidFill>
            <a:srgbClr val="0F172A">
              <a:alpha val="92000"/>
            </a:srgbClr>
          </a:solidFill>
          <a:ln w="12700">
            <a:solidFill>
              <a:srgbClr val="FDE68A">
                <a:alpha val="76000"/>
              </a:srgbClr>
            </a:solidFill>
          </a:ln>
        </p:spPr>
      </p:sp>
      <p:sp>
        <p:nvSpPr>
          <p:cNvPr id="35" name="万能接口 icon"/>
          <p:cNvSpPr/>
          <p:nvPr/>
        </p:nvSpPr>
        <p:spPr>
          <a:xfrm>
            <a:off x="10469880" y="2560320"/>
            <a:ext cx="640080" cy="438912"/>
          </a:xfrm>
          <a:prstGeom prst="roundRect">
            <a:avLst/>
          </a:prstGeom>
          <a:solidFill>
            <a:srgbClr val="FDE68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50" b="1">
                <a:solidFill>
                  <a:srgbClr val="0B1220"/>
                </a:solidFill>
                <a:latin typeface="Microsoft YaHei"/>
                <a:ea typeface="Microsoft YaHei"/>
              </a:rPr>
              <a:t>MCP</a:t>
            </a:r>
            <a:endParaRPr lang="zh-CN" sz="1150">
              <a:latin typeface="Microsoft YaHei"/>
              <a:ea typeface="Microsoft YaHei"/>
            </a:endParaRPr>
          </a:p>
        </p:txBody>
      </p:sp>
      <p:sp>
        <p:nvSpPr>
          <p:cNvPr id="36" name="万能接口 title"/>
          <p:cNvSpPr/>
          <p:nvPr/>
        </p:nvSpPr>
        <p:spPr>
          <a:xfrm>
            <a:off x="10085832" y="3099816"/>
            <a:ext cx="1417320" cy="38404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120" b="1">
                <a:solidFill>
                  <a:srgbClr val="FDE68A"/>
                </a:solidFill>
                <a:latin typeface="Microsoft YaHei"/>
                <a:ea typeface="Microsoft YaHei"/>
              </a:rPr>
              <a:t>万能接口</a:t>
            </a:r>
            <a:endParaRPr lang="zh-CN" sz="1120">
              <a:latin typeface="Microsoft YaHei"/>
              <a:ea typeface="Microsoft YaHei"/>
            </a:endParaRPr>
          </a:p>
        </p:txBody>
      </p:sp>
      <p:sp>
        <p:nvSpPr>
          <p:cNvPr id="37" name="万能接口 sub"/>
          <p:cNvSpPr/>
          <p:nvPr/>
        </p:nvSpPr>
        <p:spPr>
          <a:xfrm>
            <a:off x="10085832" y="3456432"/>
            <a:ext cx="1417320" cy="310896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760" b="1">
                <a:solidFill>
                  <a:srgbClr val="E5E7EB"/>
                </a:solidFill>
                <a:latin typeface="Microsoft YaHei"/>
                <a:ea typeface="Microsoft YaHei"/>
              </a:rPr>
              <a:t>MCP 智能服务</a:t>
            </a:r>
            <a:endParaRPr lang="zh-CN" sz="760">
              <a:latin typeface="Microsoft YaHei"/>
              <a:ea typeface="Microsoft YaHei"/>
            </a:endParaRPr>
          </a:p>
        </p:txBody>
      </p:sp>
      <p:sp>
        <p:nvSpPr>
          <p:cNvPr id="38" name="万能接口 body"/>
          <p:cNvSpPr/>
          <p:nvPr/>
        </p:nvSpPr>
        <p:spPr>
          <a:xfrm>
            <a:off x="10113264" y="3813048"/>
            <a:ext cx="1353312" cy="749808"/>
          </a:xfrm>
          <a:prstGeom prst="round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接入“外挂大脑”，直连真实数据</a:t>
            </a:r>
            <a:endParaRPr lang="zh-CN" sz="640">
              <a:latin typeface="Microsoft YaHei"/>
              <a:ea typeface="Microsoft YaHei"/>
            </a:endParaRPr>
          </a:p>
          <a:p>
            <a:pPr algn="l" marL="0" indent="0"/>
            <a:r>
              <a:rPr lang="zh-CN" sz="640">
                <a:solidFill>
                  <a:srgbClr val="CBD5E1"/>
                </a:solidFill>
                <a:latin typeface="Microsoft YaHei"/>
                <a:ea typeface="Microsoft YaHei"/>
              </a:rPr>
              <a:t>基于实时事实分析，而非概率推断</a:t>
            </a:r>
            <a:endParaRPr lang="zh-CN" sz="640">
              <a:latin typeface="Microsoft YaHei"/>
              <a:ea typeface="Microsoft YaHei"/>
            </a:endParaRPr>
          </a:p>
        </p:txBody>
      </p:sp>
      <p:sp>
        <p:nvSpPr>
          <p:cNvPr id="39" name="result banner"/>
          <p:cNvSpPr/>
          <p:nvPr/>
        </p:nvSpPr>
        <p:spPr>
          <a:xfrm>
            <a:off x="6446520" y="4892040"/>
            <a:ext cx="4983480" cy="347472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22C55E">
                <a:alpha val="70000"/>
              </a:srgbClr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920" b="1">
                <a:solidFill>
                  <a:srgbClr val="F0FDF4"/>
                </a:solidFill>
                <a:latin typeface="Microsoft YaHei"/>
                <a:ea typeface="Microsoft YaHei"/>
              </a:rPr>
              <a:t>AI 成为最懂系统的“数字化专家”：看得全、说得清、查得准</a:t>
            </a:r>
            <a:endParaRPr lang="zh-CN" sz="920">
              <a:latin typeface="Microsoft YaHei"/>
              <a:ea typeface="Microsoft YaHei"/>
            </a:endParaRPr>
          </a:p>
        </p:txBody>
      </p:sp>
      <p:sp>
        <p:nvSpPr>
          <p:cNvPr id="40" name="slogan"/>
          <p:cNvSpPr/>
          <p:nvPr/>
        </p:nvSpPr>
        <p:spPr>
          <a:xfrm>
            <a:off x="502920" y="5650992"/>
            <a:ext cx="1106424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zh-CN" sz="1600" b="1">
                <a:solidFill>
                  <a:srgbClr val="111827"/>
                </a:solidFill>
                <a:latin typeface="Microsoft YaHei"/>
                <a:ea typeface="Microsoft YaHei"/>
              </a:rPr>
              <a:t>用“确定性”的工具链，驯服 AI 的“不确定性”，让老系统平滑焕新。</a:t>
            </a:r>
            <a:endParaRPr lang="zh-CN" sz="1600"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S Dark">
  <a:themeElements>
    <a:clrScheme name="HCS">
      <a:dk1>
        <a:srgbClr val="0B1220"/>
      </a:dk1>
      <a:lt1>
        <a:srgbClr val="F8FAFC"/>
      </a:lt1>
      <a:dk2>
        <a:srgbClr val="111827"/>
      </a:dk2>
      <a:lt2>
        <a:srgbClr val="E5E7EB"/>
      </a:lt2>
      <a:accent1>
        <a:srgbClr val="38BDF8"/>
      </a:accent1>
      <a:accent2>
        <a:srgbClr val="22C55E"/>
      </a:accent2>
      <a:accent3>
        <a:srgbClr val="F97316"/>
      </a:accent3>
      <a:accent4>
        <a:srgbClr val="A78BFA"/>
      </a:accent4>
      <a:accent5>
        <a:srgbClr val="F59E0B"/>
      </a:accent5>
      <a:accent6>
        <a:srgbClr val="14B8A6"/>
      </a:accent6>
      <a:hlink>
        <a:srgbClr val="60A5FA"/>
      </a:hlink>
      <a:folHlink>
        <a:srgbClr val="A78BFA"/>
      </a:folHlink>
    </a:clrScheme>
    <a:fontScheme name="HCS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HCS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</a:ln>
        <a:ln w="12700">
          <a:solidFill>
            <a:schemeClr val="accent2"/>
          </a:solidFill>
        </a:ln>
        <a:ln w="1905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GitHub Copilot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HCS老系统智能化重构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拯救数字巨兽：HCS老系统智能化重构</dc:title>
  <dc:creator>GitHub Copilot</dc:creator>
  <cp:lastModifiedBy>GitHub Copilot</cp:lastModifiedBy>
  <dcterms:created xsi:type="dcterms:W3CDTF">2026-05-12T13:21:22Z</dcterms:created>
  <dcterms:modified xsi:type="dcterms:W3CDTF">2026-05-12T13:21:22Z</dcterms:modified>
</cp:coreProperties>
</file>